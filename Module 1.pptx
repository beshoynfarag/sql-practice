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9F1C-47A5-5647-E8FC-C5AC944459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C17492-877B-E4E5-A3DF-517C044B3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E160D-6FE6-3420-32EC-5EA1B4E98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01CA3-17DE-4650-9312-4AE09C27EE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DD8ED-DC85-2ADD-9EA4-DD1155EE3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1CA6E-DC0B-9C44-0593-0E1FE6B09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E665-25F3-4B65-B1DC-5C6434D7E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77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51A0F-9226-6DC0-C03C-34E73DC8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2BF28-84F2-351A-D17D-07A174A88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5EA76-8171-0BC3-79BC-F3C5FEB84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01CA3-17DE-4650-9312-4AE09C27EE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7F996-7C6C-8E92-6B5A-53F188BFE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82726-F3B9-196B-028A-743A3EB6B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E665-25F3-4B65-B1DC-5C6434D7E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21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5E5C6-075D-7C24-B46B-309C7FDFB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F6E27-604E-0AE7-54F5-5B9C5713A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025C4-5B47-ACBF-45A9-F6BB8C481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01CA3-17DE-4650-9312-4AE09C27EE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E86B7-1B2C-0768-4AC7-CCAB75CAC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295C2-5546-D91B-9BE4-2564B4B29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E665-25F3-4B65-B1DC-5C6434D7E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52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5458E-0062-6EC5-BB38-46F53DC3C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10C43-0F21-BF47-B743-D769B19813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5FB9FB-0BF2-C28C-E1D5-3465735A9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2CDFB-6046-F9DE-DDCF-0051639F1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01CA3-17DE-4650-9312-4AE09C27EE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9DAB1-7085-A0F8-85CF-D8C9A48AB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749EC-E051-075F-96CD-92B747CE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E665-25F3-4B65-B1DC-5C6434D7E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87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8C82F-1843-849B-5A4E-C36B20477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BB7AD-9387-14F6-8E18-F650E4EF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DDFF94-B665-ECAA-E736-955CA5836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967086-9DEB-387D-0C26-C52E3314D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7DF6F9-1D31-02D3-929B-79782A5C58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4C1B12-7B25-91C7-1EEF-93B34C5CC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01CA3-17DE-4650-9312-4AE09C27EE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68637E-838C-80A9-8CAF-8221FD443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BEA967-0C64-E28A-8794-8D692724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E665-25F3-4B65-B1DC-5C6434D7E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7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FE7DA-C407-B926-0AB6-6C8B6FC3E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5A9C9B-43E3-9A4A-A5A5-78A6895F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01CA3-17DE-4650-9312-4AE09C27EE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92C047-DD5F-DE4D-0A26-63F12D03D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29D2FE-3906-9AEF-B5C3-28C20611C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E665-25F3-4B65-B1DC-5C6434D7E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37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C75441-5008-3E9F-F1A6-7F5551EC1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01CA3-17DE-4650-9312-4AE09C27EE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93803A-B231-7D5E-DDC5-E93728F79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BEE7E-6111-653D-9CF8-4657AB113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E665-25F3-4B65-B1DC-5C6434D7E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972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9D491-797C-961D-52EC-C56E4FC73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E427A-BCC4-A6FE-CAFF-BA2EB41AB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45D0E0-94BE-CF34-5EC3-81811EA0A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0208E-251B-6683-0A62-3A8B1425E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01CA3-17DE-4650-9312-4AE09C27EE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52748-E175-4939-7A55-2F7576E5A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2E398-2F99-ABA9-8D16-35A1AF90F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E665-25F3-4B65-B1DC-5C6434D7E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97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E5BA-4EA6-E004-5FDD-8A26D785F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1773B6-615E-A058-E9E5-F134E308D2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4CBB-0B02-DE8C-9FE5-984BD4D19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417FD-5B73-DB69-D1EC-98261935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01CA3-17DE-4650-9312-4AE09C27EE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A450A-6CD9-11C0-9E7F-73FE06B0C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10BAB-AF63-98AA-22F2-827EA82B2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E665-25F3-4B65-B1DC-5C6434D7E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24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9FD09-CA40-4975-D924-4B566137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063826-A342-7704-BAC9-648F8D2E5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2FF1E-7F85-7018-A425-5EA45B284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01CA3-17DE-4650-9312-4AE09C27EE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4A4B3-C4D0-D11A-D49C-A4446E77E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97B86-D610-E1B2-0DC9-4B9F34E0E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E665-25F3-4B65-B1DC-5C6434D7E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41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CCB554-2E1C-C729-D5E0-EAFC53A789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100ABB-5378-AD67-9B3C-250182594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6E373-9BD0-B848-D3D0-D79002A90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01CA3-17DE-4650-9312-4AE09C27EE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696F1-5D32-AD04-D423-EA4DE6D92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BBC98-4FF8-0175-4F92-34F92BB97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9E665-25F3-4B65-B1DC-5C6434D7E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28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A4EBA6-FC73-A18F-25D4-6A6B2DC01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53764-A50C-0F1E-116E-FE6D46D79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62F51-EC08-75F8-37BF-88AD34916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01CA3-17DE-4650-9312-4AE09C27EE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21C14-09C4-C515-67BC-367BBFC12D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98B09-7D76-7FFB-FF87-00D3B8313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9E665-25F3-4B65-B1DC-5C6434D7E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787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02C10-1F42-A1F6-C477-E04FC60AF8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Introduction to </a:t>
            </a:r>
            <a:r>
              <a:rPr lang="en-US" b="1" dirty="0" err="1">
                <a:solidFill>
                  <a:srgbClr val="FF0000"/>
                </a:solidFill>
              </a:rPr>
              <a:t>DataBases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C688AA-0E28-6AF8-D12D-DF3440920B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056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710EC-591B-4581-9CA0-6132D660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Entity Relational Diagrams (ER Diagrams)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99A3D-4157-5A90-B1C3-8F6889032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describes the relationship of entities that need to be stored in a database.</a:t>
            </a:r>
          </a:p>
          <a:p>
            <a:r>
              <a:rPr lang="en-US" dirty="0"/>
              <a:t>A rectangle represents an entity, an oval circle represents an attribute, 2 rectangles inside each other represents a weak entity, a dashed oval circle represents a derived </a:t>
            </a:r>
            <a:r>
              <a:rPr lang="en-US" dirty="0" err="1"/>
              <a:t>attribute,a</a:t>
            </a:r>
            <a:r>
              <a:rPr lang="en-US" dirty="0"/>
              <a:t>  diamond represents a relationship, 2 oval circles represents a </a:t>
            </a:r>
            <a:r>
              <a:rPr lang="en-US" dirty="0" err="1"/>
              <a:t>multivalue</a:t>
            </a:r>
            <a:r>
              <a:rPr lang="en-US" dirty="0"/>
              <a:t> attribute.</a:t>
            </a:r>
          </a:p>
          <a:p>
            <a:r>
              <a:rPr lang="en-US" dirty="0"/>
              <a:t>A weak entity is an entity that has no primary key, and its existence depends on another entity</a:t>
            </a:r>
          </a:p>
        </p:txBody>
      </p:sp>
    </p:spTree>
    <p:extLst>
      <p:ext uri="{BB962C8B-B14F-4D97-AF65-F5344CB8AC3E}">
        <p14:creationId xmlns:p14="http://schemas.microsoft.com/office/powerpoint/2010/main" val="4236482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0B524-2C13-3DAA-FAC9-76C2D5114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3D489-F196-CE98-6C0D-61BFA64E5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Composite attribute is an attribute that is a combination of several other attributes (name -&gt; first name, second name)</a:t>
            </a:r>
          </a:p>
          <a:p>
            <a:r>
              <a:rPr lang="en-US" dirty="0"/>
              <a:t>Multivalued attribute is the attribute which can be more than one attribute (phone number) you can have more than one number</a:t>
            </a:r>
          </a:p>
          <a:p>
            <a:r>
              <a:rPr lang="en-US" dirty="0"/>
              <a:t>Derived attributes are attributes that can be derived from other attributes (age can be derived from date of birth)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933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373AA-95BB-E724-3A27-212AC4C68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4B655-696A-46F8-6033-4D83F7888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to one relationship is when the 2 entities have only one relationship (student has only 1 ID card)</a:t>
            </a:r>
          </a:p>
          <a:p>
            <a:r>
              <a:rPr lang="en-US" dirty="0"/>
              <a:t>When 1 entity has association with more than one element of another entity (customer, orders)</a:t>
            </a:r>
          </a:p>
          <a:p>
            <a:r>
              <a:rPr lang="en-US" dirty="0"/>
              <a:t>When more than 1 element is associated with only one element of another entity (many students enroll in one course)</a:t>
            </a:r>
          </a:p>
          <a:p>
            <a:r>
              <a:rPr lang="en-US" dirty="0"/>
              <a:t>When more than one element of an entity is associated with more than one element of another entity (employee, project)</a:t>
            </a:r>
          </a:p>
        </p:txBody>
      </p:sp>
    </p:spTree>
    <p:extLst>
      <p:ext uri="{BB962C8B-B14F-4D97-AF65-F5344CB8AC3E}">
        <p14:creationId xmlns:p14="http://schemas.microsoft.com/office/powerpoint/2010/main" val="4120649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CF1E3-D71F-4EAD-688B-7AED7FFEE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How to Draw An ER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B94DE-5C0B-7B53-7E8E-CD99A60F5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the entities </a:t>
            </a:r>
          </a:p>
          <a:p>
            <a:r>
              <a:rPr lang="en-US" dirty="0"/>
              <a:t>Identify relationships between entities</a:t>
            </a:r>
          </a:p>
          <a:p>
            <a:r>
              <a:rPr lang="en-US" dirty="0"/>
              <a:t>Identify attributes and connect them to your entities</a:t>
            </a:r>
          </a:p>
          <a:p>
            <a:r>
              <a:rPr lang="en-US" dirty="0"/>
              <a:t>Get rid of redundancy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354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8CCB9-236B-0CE3-B346-93B410D7F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Types of SQL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075BD-4827-FB23-2766-1A9879846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DDL data definition language (create, alter, drop, truncate)</a:t>
            </a:r>
          </a:p>
          <a:p>
            <a:r>
              <a:rPr lang="en-US" dirty="0"/>
              <a:t>DML data manipulation language (update, select, delete, insert)</a:t>
            </a:r>
          </a:p>
          <a:p>
            <a:r>
              <a:rPr lang="en-US" dirty="0"/>
              <a:t>DCL data control language (grant, revoke) -&gt; control access to data</a:t>
            </a:r>
          </a:p>
          <a:p>
            <a:r>
              <a:rPr lang="en-US" dirty="0"/>
              <a:t>TCL transaction control language (commit, rollback) </a:t>
            </a:r>
          </a:p>
        </p:txBody>
      </p:sp>
    </p:spTree>
    <p:extLst>
      <p:ext uri="{BB962C8B-B14F-4D97-AF65-F5344CB8AC3E}">
        <p14:creationId xmlns:p14="http://schemas.microsoft.com/office/powerpoint/2010/main" val="3665922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B72DE-CAAE-4EB9-9085-6E2E2BAC0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SQL Basic Command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DA390-D678-FC53-EFF7-B05C5DBCB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column_name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table_name</a:t>
            </a:r>
            <a:endParaRPr lang="en-US" dirty="0"/>
          </a:p>
          <a:p>
            <a:r>
              <a:rPr lang="en-US" dirty="0"/>
              <a:t>where  condition</a:t>
            </a:r>
          </a:p>
          <a:p>
            <a:r>
              <a:rPr lang="en-US" dirty="0"/>
              <a:t>Group by column1 -&gt; this lets you deal with each row (group) inside a column </a:t>
            </a:r>
          </a:p>
          <a:p>
            <a:r>
              <a:rPr lang="en-US" dirty="0"/>
              <a:t>Ordered By </a:t>
            </a:r>
            <a:r>
              <a:rPr lang="en-US" dirty="0" err="1"/>
              <a:t>aggregate_function</a:t>
            </a:r>
            <a:r>
              <a:rPr lang="en-US" dirty="0"/>
              <a:t> lets you </a:t>
            </a:r>
            <a:r>
              <a:rPr lang="en-US" dirty="0" err="1"/>
              <a:t>oreder</a:t>
            </a:r>
            <a:r>
              <a:rPr lang="en-US" dirty="0"/>
              <a:t> these columns by some value</a:t>
            </a:r>
          </a:p>
          <a:p>
            <a:r>
              <a:rPr lang="en-US" dirty="0"/>
              <a:t>Having is like where but for these groups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882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C1C02-8C45-E54D-C445-4543F25BF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SQL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2EEFC-FF5E-BFDD-D869-B8FBC60A9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Numeric (int, small int, bit, decimal )</a:t>
            </a:r>
          </a:p>
          <a:p>
            <a:r>
              <a:rPr lang="en-US" dirty="0"/>
              <a:t>Approximate numeric (float, real)</a:t>
            </a:r>
          </a:p>
          <a:p>
            <a:r>
              <a:rPr lang="en-US" dirty="0"/>
              <a:t>Date and Time (date, time, timestamp)</a:t>
            </a:r>
          </a:p>
          <a:p>
            <a:r>
              <a:rPr lang="en-US" dirty="0"/>
              <a:t>String(char, varchar, text)</a:t>
            </a:r>
          </a:p>
          <a:p>
            <a:r>
              <a:rPr lang="en-US" dirty="0"/>
              <a:t>Binary(binary, </a:t>
            </a:r>
            <a:r>
              <a:rPr lang="en-US" dirty="0" err="1"/>
              <a:t>varbinary</a:t>
            </a:r>
            <a:r>
              <a:rPr lang="en-US" dirty="0"/>
              <a:t>, image)</a:t>
            </a:r>
          </a:p>
        </p:txBody>
      </p:sp>
    </p:spTree>
    <p:extLst>
      <p:ext uri="{BB962C8B-B14F-4D97-AF65-F5344CB8AC3E}">
        <p14:creationId xmlns:p14="http://schemas.microsoft.com/office/powerpoint/2010/main" val="1184905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A88DB-5D44-3CD9-DBE2-A6DD438F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SQL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B38E8-E91E-C308-CCF6-12AE8308F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Arithmetic (+, -, / , *, %)</a:t>
            </a:r>
          </a:p>
          <a:p>
            <a:r>
              <a:rPr lang="en-US" dirty="0"/>
              <a:t>Logical (All, And, Any, Between, Exist)</a:t>
            </a:r>
          </a:p>
          <a:p>
            <a:r>
              <a:rPr lang="en-US"/>
              <a:t>Comparison (= , != , &gt;=, &lt;=, &lt;, &gt;, &lt;!, &gt;!) 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087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451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Introduction to DataBases</vt:lpstr>
      <vt:lpstr>Entity Relational Diagrams (ER Diagrams)</vt:lpstr>
      <vt:lpstr>Attributes</vt:lpstr>
      <vt:lpstr>Relationships</vt:lpstr>
      <vt:lpstr>How to Draw An ER Diagram</vt:lpstr>
      <vt:lpstr>Types of SQL Commands</vt:lpstr>
      <vt:lpstr>SQL Basic Command Structure</vt:lpstr>
      <vt:lpstr>SQL Data Types</vt:lpstr>
      <vt:lpstr>SQL Operators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DataBases</dc:title>
  <dc:creator>M4800</dc:creator>
  <cp:lastModifiedBy>M4800</cp:lastModifiedBy>
  <cp:revision>2</cp:revision>
  <dcterms:created xsi:type="dcterms:W3CDTF">2023-12-03T12:45:57Z</dcterms:created>
  <dcterms:modified xsi:type="dcterms:W3CDTF">2026-04-06T16:30:51Z</dcterms:modified>
</cp:coreProperties>
</file>