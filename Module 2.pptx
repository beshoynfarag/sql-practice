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5D4B-996A-EDDD-3470-9F8472FF8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DEA15-66B4-AE22-34AA-D3AF89E5A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C02AC-F76C-8F1D-5F57-089F2968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0E956-0736-E984-5570-E7ED0F62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8A035-5CFE-4781-53F7-4F695D72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1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7384-C3FC-C0AA-4F04-64C73CE6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F959-BA03-FC9D-B3B7-45C975D25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7E953-D831-2EE1-E799-8394DCC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E85AC-7B03-CDD6-070C-4CF4124F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C9F3D-9E59-C6C1-1114-D6346249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7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DA69-BEC1-1B65-4EE2-A4FDC601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80EBE-B035-7E3D-610D-7D6277E6C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66C10-D555-B08A-E3F4-76D544C8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DFF5D-E5B1-591E-C91F-3A1A4F04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C2C2-8782-C424-95F0-0301B573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80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21C8-DD5F-C746-7150-CC812C33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283D1-DA67-25B1-8529-88418F070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B97FA-74ED-2A61-3818-71D6380F6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B3D27-0E8C-43A8-34B7-67623E03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AC942-A908-146E-CA4E-26E6F087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06A-C048-94D1-D269-5B4151F1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E02E-65DF-64F8-EC38-66F3B97C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E1A7C-FB4F-5A11-20F5-B0D6BE73A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8032F-2B81-213A-08C5-2DAF37F6F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DEB4A-3FC1-A298-3BEE-3D155217B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41D53-6BC3-7155-E638-7B9FE485D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42BD7-BCD2-7CED-3A8A-142404EE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197C2-76BD-58C6-D0A7-38F2FA55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45E96-9151-99FE-ABBF-0834F68B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B652-2151-29D2-C0AC-D378839A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BB6BA-ED04-2608-5D9A-A4CB6AE5E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8DA99-A2B5-C261-D508-C834B816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EAC12-8C22-FA41-D517-69E83B53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96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2FAC3-0B67-35DB-F467-F4E3F9C5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6E9F87-C3D0-6557-BA5E-58C26A73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75504-0123-FBBA-ED36-AFA265C8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4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FED3-5C84-78DF-D2DF-38C3F85C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4D5E-A165-3A7D-CB7A-71C8E24A1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A7816-974E-ECA9-50E2-AFAE7F0C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B5A5E-BFF4-C33C-1EBD-2845BD094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727F5-33EE-8CC8-616F-A6D28657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5A718-D8E8-6D02-2E3A-DD37F07D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1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6B68-524B-3CCD-4B9B-1A273D19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CBE97-7C31-37CA-F678-5E45700AE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28A15-8C1A-C935-EA2E-AA5598F61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BD3AC-44C5-6569-AF79-E5C51613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60392-B941-FFDE-749E-F1DEF178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C5CB5-FCDF-51C8-5B3C-A257F5F9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3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46AC-61DB-F4A3-91EA-AD11DD535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62743-D06C-F4B0-82F5-B8DE32B44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3A776-7E6D-D15A-FEB9-FCF6381F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C7DDE-5101-3940-23B4-6FB5E9C4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F5498-B4D7-9F91-EE7B-DC29F6E3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84B65-57C0-DEEF-3D16-D917A617B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AAE6D-18A9-93AB-98CE-753ED91BA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C601-FB06-9DF0-BA05-6CF59575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8A66F-3B3E-0109-BD24-F7642E47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E9174-F872-40FD-06CB-C8AA5009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51B70-3E37-E84C-6C46-A7B791E08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49AF-2324-7771-5F1A-567C7DAF0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7CF3F-1DA3-172F-60BC-A76E2E10D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C94A4-DEAB-4F3B-B8F5-6429FF1AC307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C8CA-8E14-0F1D-59FB-93660FEE8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870C3-D1CB-6BAC-1B2C-50E70A390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98660-776F-40B5-B4AE-E12149D35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4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CBEC-7768-6D00-44AF-FD8DC8BE3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My SQL Built-In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4BA7A-CB6E-8BC9-4DC6-CCBC48A24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7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D0FC-F3D6-A803-0408-786ADF0E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5B90-3713-4D69-E37F-1C1F04C72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show your databases you simply write </a:t>
            </a:r>
            <a:r>
              <a:rPr lang="en-US" dirty="0">
                <a:solidFill>
                  <a:srgbClr val="00B050"/>
                </a:solidFill>
              </a:rPr>
              <a:t>show databases;</a:t>
            </a:r>
          </a:p>
          <a:p>
            <a:r>
              <a:rPr lang="en-US" dirty="0"/>
              <a:t>To use a specific database simply write </a:t>
            </a:r>
            <a:r>
              <a:rPr lang="en-US" dirty="0">
                <a:solidFill>
                  <a:srgbClr val="00B050"/>
                </a:solidFill>
              </a:rPr>
              <a:t>use </a:t>
            </a:r>
            <a:r>
              <a:rPr lang="en-US" dirty="0" err="1">
                <a:solidFill>
                  <a:srgbClr val="00B050"/>
                </a:solidFill>
              </a:rPr>
              <a:t>database_name</a:t>
            </a:r>
            <a:r>
              <a:rPr lang="en-US" dirty="0">
                <a:solidFill>
                  <a:srgbClr val="00B050"/>
                </a:solidFill>
              </a:rPr>
              <a:t>;</a:t>
            </a:r>
          </a:p>
          <a:p>
            <a:r>
              <a:rPr lang="en-US" dirty="0">
                <a:solidFill>
                  <a:srgbClr val="00B050"/>
                </a:solidFill>
              </a:rPr>
              <a:t>Show tables; </a:t>
            </a:r>
            <a:r>
              <a:rPr lang="en-US" dirty="0"/>
              <a:t>to show you what tables are inside a database</a:t>
            </a:r>
          </a:p>
          <a:p>
            <a:r>
              <a:rPr lang="en-US" dirty="0">
                <a:solidFill>
                  <a:srgbClr val="00B050"/>
                </a:solidFill>
              </a:rPr>
              <a:t>Describe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; </a:t>
            </a:r>
            <a:r>
              <a:rPr lang="en-US" dirty="0"/>
              <a:t>lets you know the kind of data and name of it</a:t>
            </a:r>
          </a:p>
          <a:p>
            <a:r>
              <a:rPr lang="en-US" dirty="0"/>
              <a:t>Create database </a:t>
            </a:r>
            <a:r>
              <a:rPr lang="en-US" dirty="0" err="1">
                <a:solidFill>
                  <a:srgbClr val="00B050"/>
                </a:solidFill>
              </a:rPr>
              <a:t>database_name</a:t>
            </a:r>
            <a:r>
              <a:rPr lang="en-US" dirty="0">
                <a:solidFill>
                  <a:srgbClr val="00B050"/>
                </a:solidFill>
              </a:rPr>
              <a:t>; </a:t>
            </a:r>
            <a:r>
              <a:rPr lang="en-US" dirty="0"/>
              <a:t>is used to create a database</a:t>
            </a:r>
          </a:p>
          <a:p>
            <a:r>
              <a:rPr lang="en-US" dirty="0">
                <a:solidFill>
                  <a:srgbClr val="00B050"/>
                </a:solidFill>
              </a:rPr>
              <a:t>Create table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(column1 datatype(amount) , column2 datatype(amount) );</a:t>
            </a:r>
          </a:p>
          <a:p>
            <a:r>
              <a:rPr lang="en-US" dirty="0">
                <a:solidFill>
                  <a:srgbClr val="00B050"/>
                </a:solidFill>
              </a:rPr>
              <a:t>Drop database </a:t>
            </a:r>
            <a:r>
              <a:rPr lang="en-US" dirty="0" err="1">
                <a:solidFill>
                  <a:srgbClr val="00B050"/>
                </a:solidFill>
              </a:rPr>
              <a:t>database_name</a:t>
            </a:r>
            <a:r>
              <a:rPr lang="en-US" dirty="0">
                <a:solidFill>
                  <a:srgbClr val="00B050"/>
                </a:solidFill>
              </a:rPr>
              <a:t>; </a:t>
            </a:r>
            <a:r>
              <a:rPr lang="en-US" dirty="0"/>
              <a:t>to delete an existing data base.</a:t>
            </a:r>
          </a:p>
          <a:p>
            <a:r>
              <a:rPr lang="en-US" dirty="0">
                <a:solidFill>
                  <a:srgbClr val="00B050"/>
                </a:solidFill>
              </a:rPr>
              <a:t>Insert into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value (values);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3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7AA5-24DF-8045-F09A-D9ED1C1A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2D124-4C67-AA51-6EC8-E2A08F01B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select count(column) as </a:t>
            </a:r>
            <a:r>
              <a:rPr lang="en-US" dirty="0" err="1">
                <a:solidFill>
                  <a:srgbClr val="00B050"/>
                </a:solidFill>
              </a:rPr>
              <a:t>give_name</a:t>
            </a:r>
            <a:r>
              <a:rPr lang="en-US" dirty="0">
                <a:solidFill>
                  <a:srgbClr val="00B050"/>
                </a:solidFill>
              </a:rPr>
              <a:t> from table; </a:t>
            </a:r>
            <a:r>
              <a:rPr lang="en-US" dirty="0"/>
              <a:t>this query counts the number of elements in that column</a:t>
            </a:r>
          </a:p>
          <a:p>
            <a:r>
              <a:rPr lang="en-US" dirty="0"/>
              <a:t>We also have sum, avg,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1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B6DC-7B5E-C36B-1A78-51779B95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7FBC-3777-1F8B-6E67-072B7C74F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or with where or to put 2 conditions or we can simply write : 	</a:t>
            </a:r>
            <a:r>
              <a:rPr lang="en-US" dirty="0">
                <a:solidFill>
                  <a:srgbClr val="00B050"/>
                </a:solidFill>
              </a:rPr>
              <a:t>select column from table where column in (‘1’,’2’)</a:t>
            </a:r>
            <a:r>
              <a:rPr lang="en-US" dirty="0"/>
              <a:t>.</a:t>
            </a:r>
          </a:p>
          <a:p>
            <a:r>
              <a:rPr lang="en-US" dirty="0"/>
              <a:t>We can also get values between some values : </a:t>
            </a:r>
            <a:r>
              <a:rPr lang="en-US" dirty="0">
                <a:solidFill>
                  <a:srgbClr val="00B050"/>
                </a:solidFill>
              </a:rPr>
              <a:t>select column from table where between value and value2</a:t>
            </a:r>
          </a:p>
          <a:p>
            <a:r>
              <a:rPr lang="en-US" dirty="0"/>
              <a:t>We can also use the operators with where (&gt;, &lt;, =)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2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5DC3-5B27-ABB9-7ACF-1078BD98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CFCF-2F0E-1167-A37E-1CED123C5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group by to see the average salary of people based on gender </a:t>
            </a:r>
          </a:p>
          <a:p>
            <a:r>
              <a:rPr lang="en-US" dirty="0">
                <a:solidFill>
                  <a:srgbClr val="00B050"/>
                </a:solidFill>
              </a:rPr>
              <a:t>Select sex, sum(salary) as </a:t>
            </a:r>
            <a:r>
              <a:rPr lang="en-US" dirty="0" err="1">
                <a:solidFill>
                  <a:srgbClr val="00B050"/>
                </a:solidFill>
              </a:rPr>
              <a:t>total_salary</a:t>
            </a:r>
            <a:r>
              <a:rPr lang="en-US" dirty="0">
                <a:solidFill>
                  <a:srgbClr val="00B050"/>
                </a:solidFill>
              </a:rPr>
              <a:t> from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group by sex;</a:t>
            </a:r>
          </a:p>
          <a:p>
            <a:r>
              <a:rPr lang="en-US" dirty="0"/>
              <a:t>We also can sort using a certain column </a:t>
            </a:r>
          </a:p>
          <a:p>
            <a:r>
              <a:rPr lang="en-US" dirty="0">
                <a:solidFill>
                  <a:srgbClr val="00B050"/>
                </a:solidFill>
              </a:rPr>
              <a:t>Select * from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order by column;</a:t>
            </a:r>
          </a:p>
          <a:p>
            <a:r>
              <a:rPr lang="en-US" dirty="0">
                <a:solidFill>
                  <a:srgbClr val="00B050"/>
                </a:solidFill>
              </a:rPr>
              <a:t>Select * from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order by column desc;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82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120F-60AB-0ABA-65EB-8E827C54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Built-in Select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8D24-A58B-743E-0F0F-4E597A8DC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Select sum (two number)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sub (two number)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repeat (something, times)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upper (string)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lower (string)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curdate</a:t>
            </a:r>
            <a:r>
              <a:rPr lang="en-US" dirty="0">
                <a:solidFill>
                  <a:srgbClr val="00B050"/>
                </a:solidFill>
              </a:rPr>
              <a:t> ()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date (</a:t>
            </a:r>
            <a:r>
              <a:rPr lang="en-US" dirty="0" err="1">
                <a:solidFill>
                  <a:srgbClr val="00B050"/>
                </a:solidFill>
              </a:rPr>
              <a:t>curdate</a:t>
            </a:r>
            <a:r>
              <a:rPr lang="en-US" dirty="0">
                <a:solidFill>
                  <a:srgbClr val="00B050"/>
                </a:solidFill>
              </a:rPr>
              <a:t>) as alias name;</a:t>
            </a:r>
          </a:p>
          <a:p>
            <a:r>
              <a:rPr lang="en-US" dirty="0">
                <a:solidFill>
                  <a:srgbClr val="00B050"/>
                </a:solidFill>
              </a:rPr>
              <a:t>Select now () as alias name;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0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F293-406B-64B1-A0CE-95A7F562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F7BF0-8BC9-357C-B3C2-9E60746BA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Select upper(“string”);, </a:t>
            </a:r>
            <a:r>
              <a:rPr lang="en-US" dirty="0"/>
              <a:t>to show the string as upper case.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lcase</a:t>
            </a:r>
            <a:r>
              <a:rPr lang="en-US" dirty="0">
                <a:solidFill>
                  <a:srgbClr val="00B050"/>
                </a:solidFill>
              </a:rPr>
              <a:t>(“string”);, </a:t>
            </a:r>
            <a:r>
              <a:rPr lang="en-US" dirty="0"/>
              <a:t>to show the string as lower case.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character_length</a:t>
            </a:r>
            <a:r>
              <a:rPr lang="en-US" dirty="0">
                <a:solidFill>
                  <a:srgbClr val="00B050"/>
                </a:solidFill>
              </a:rPr>
              <a:t>(“string”);, </a:t>
            </a:r>
            <a:r>
              <a:rPr lang="en-US" dirty="0"/>
              <a:t>to show the string length.</a:t>
            </a:r>
          </a:p>
          <a:p>
            <a:r>
              <a:rPr lang="en-US" dirty="0">
                <a:solidFill>
                  <a:srgbClr val="00B050"/>
                </a:solidFill>
              </a:rPr>
              <a:t>Select column, </a:t>
            </a:r>
            <a:r>
              <a:rPr lang="en-US" dirty="0" err="1">
                <a:solidFill>
                  <a:srgbClr val="00B050"/>
                </a:solidFill>
              </a:rPr>
              <a:t>character_length</a:t>
            </a:r>
            <a:r>
              <a:rPr lang="en-US" dirty="0">
                <a:solidFill>
                  <a:srgbClr val="00B050"/>
                </a:solidFill>
              </a:rPr>
              <a:t>(column) from </a:t>
            </a:r>
            <a:r>
              <a:rPr lang="en-US" dirty="0" err="1">
                <a:solidFill>
                  <a:srgbClr val="00B050"/>
                </a:solidFill>
              </a:rPr>
              <a:t>table_of_column</a:t>
            </a:r>
            <a:r>
              <a:rPr lang="en-US" dirty="0">
                <a:solidFill>
                  <a:srgbClr val="00B050"/>
                </a:solidFill>
              </a:rPr>
              <a:t>;</a:t>
            </a:r>
            <a:r>
              <a:rPr lang="en-US" dirty="0"/>
              <a:t>, this shows you the column and the string length of each element.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concat</a:t>
            </a:r>
            <a:r>
              <a:rPr lang="en-US" dirty="0">
                <a:solidFill>
                  <a:srgbClr val="00B050"/>
                </a:solidFill>
              </a:rPr>
              <a:t> (“string1”, “string2”); </a:t>
            </a:r>
            <a:r>
              <a:rPr lang="en-US" dirty="0"/>
              <a:t>, to concatenate 2 string or more.</a:t>
            </a:r>
          </a:p>
          <a:p>
            <a:r>
              <a:rPr lang="en-US" dirty="0">
                <a:solidFill>
                  <a:srgbClr val="00B050"/>
                </a:solidFill>
              </a:rPr>
              <a:t>Select reverse (“</a:t>
            </a:r>
            <a:r>
              <a:rPr lang="en-US" dirty="0" err="1">
                <a:solidFill>
                  <a:srgbClr val="00B050"/>
                </a:solidFill>
              </a:rPr>
              <a:t>string_name</a:t>
            </a:r>
            <a:r>
              <a:rPr lang="en-US" dirty="0">
                <a:solidFill>
                  <a:srgbClr val="00B050"/>
                </a:solidFill>
              </a:rPr>
              <a:t>”); </a:t>
            </a:r>
            <a:r>
              <a:rPr lang="en-US" dirty="0"/>
              <a:t>to reverse the characters.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reverese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) from column; </a:t>
            </a:r>
            <a:r>
              <a:rPr lang="en-US" dirty="0"/>
              <a:t>this reverse each word in the column.</a:t>
            </a:r>
          </a:p>
          <a:p>
            <a:r>
              <a:rPr lang="en-US" dirty="0">
                <a:solidFill>
                  <a:srgbClr val="00B050"/>
                </a:solidFill>
              </a:rPr>
              <a:t>Select replace (“orange is vegetable” , “vegetable” , “fruit”); </a:t>
            </a:r>
            <a:r>
              <a:rPr lang="en-US" dirty="0"/>
              <a:t>this means that the replace function will find each word name vegetable and replace it with fruit.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ltrim</a:t>
            </a:r>
            <a:r>
              <a:rPr lang="en-US" dirty="0">
                <a:solidFill>
                  <a:srgbClr val="00B050"/>
                </a:solidFill>
              </a:rPr>
              <a:t> (); , select </a:t>
            </a:r>
            <a:r>
              <a:rPr lang="en-US" dirty="0" err="1">
                <a:solidFill>
                  <a:srgbClr val="00B050"/>
                </a:solidFill>
              </a:rPr>
              <a:t>rtrim</a:t>
            </a:r>
            <a:r>
              <a:rPr lang="en-US" dirty="0">
                <a:solidFill>
                  <a:srgbClr val="00B050"/>
                </a:solidFill>
              </a:rPr>
              <a:t>();,  </a:t>
            </a:r>
            <a:r>
              <a:rPr lang="en-US" dirty="0"/>
              <a:t>to delete spaces from left and right respectively.</a:t>
            </a:r>
          </a:p>
          <a:p>
            <a:r>
              <a:rPr lang="en-US" dirty="0">
                <a:solidFill>
                  <a:srgbClr val="00B050"/>
                </a:solidFill>
              </a:rPr>
              <a:t>Select trim();, </a:t>
            </a:r>
            <a:r>
              <a:rPr lang="en-US" dirty="0"/>
              <a:t>to delete all spaces.</a:t>
            </a:r>
          </a:p>
          <a:p>
            <a:r>
              <a:rPr lang="en-US" dirty="0">
                <a:solidFill>
                  <a:srgbClr val="00B050"/>
                </a:solidFill>
              </a:rPr>
              <a:t>Select position (“sub”, “super”); </a:t>
            </a:r>
            <a:r>
              <a:rPr lang="en-US" dirty="0"/>
              <a:t>to find the position of the subset in a superset</a:t>
            </a:r>
          </a:p>
          <a:p>
            <a:r>
              <a:rPr lang="en-US" dirty="0">
                <a:solidFill>
                  <a:srgbClr val="00B050"/>
                </a:solidFill>
              </a:rPr>
              <a:t>Select ascii(‘string’); </a:t>
            </a:r>
            <a:r>
              <a:rPr lang="en-US" dirty="0"/>
              <a:t>to give you the ascii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5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541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My SQL Built-In Functions</vt:lpstr>
      <vt:lpstr>Functions</vt:lpstr>
      <vt:lpstr>Aggregate Functions</vt:lpstr>
      <vt:lpstr>Where</vt:lpstr>
      <vt:lpstr>Group By</vt:lpstr>
      <vt:lpstr>Built-in Select Functions</vt:lpstr>
      <vt:lpstr>String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SQL Built-In Functions</dc:title>
  <dc:creator>M4800</dc:creator>
  <cp:lastModifiedBy>M4800</cp:lastModifiedBy>
  <cp:revision>4</cp:revision>
  <dcterms:created xsi:type="dcterms:W3CDTF">2023-12-04T14:59:55Z</dcterms:created>
  <dcterms:modified xsi:type="dcterms:W3CDTF">2023-12-10T15:16:48Z</dcterms:modified>
</cp:coreProperties>
</file>